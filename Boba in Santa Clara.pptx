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73" d="100"/>
          <a:sy n="73" d="100"/>
        </p:scale>
        <p:origin x="66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A4A088-4C0D-446D-9499-CAD1D6AA2C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B519A7-5307-4E29-93D6-83D361CAAE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771E10-F33A-4752-9409-292B6E3C00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37AD5-B495-40AE-80F2-F9902BD432F4}" type="datetimeFigureOut">
              <a:rPr lang="en-US" smtClean="0"/>
              <a:t>5/2/2021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C1F75A-DEA8-485C-9E3F-1E73726AAD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CF0622-B70B-4762-9503-59A9EF22F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F35F2B-992B-46BB-9FC5-4731DF65AD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89008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0661CB-C545-48A2-8D2E-4843666AC8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E06592-2BA7-473D-9172-D9E070AA5A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900F99-41C7-490A-8DDC-CA45AB0A73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37AD5-B495-40AE-80F2-F9902BD432F4}" type="datetimeFigureOut">
              <a:rPr lang="en-US" smtClean="0"/>
              <a:t>5/2/2021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79E082-9AF0-4A24-888F-DFE923FE32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EAA10E-192E-40F3-8A50-E6920D37F5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F35F2B-992B-46BB-9FC5-4731DF65AD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632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0D58AC-EC0A-4A06-92BD-E08DC594A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477F36-57F8-44EF-B7E6-093C1A6508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51FBFC-29E9-4B05-AAFC-4886C8C3D6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37AD5-B495-40AE-80F2-F9902BD432F4}" type="datetimeFigureOut">
              <a:rPr lang="en-US" smtClean="0"/>
              <a:t>5/2/2021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D27FEE-727A-433A-92BA-B51C046EB0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B4F331-3838-4448-B35B-CD6FB6EBF3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F35F2B-992B-46BB-9FC5-4731DF65AD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80849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7D526C-DCBC-47F3-AE20-9C33D1F9E5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E07C32-846D-4F8F-A4EE-A99EE4D476F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A6F64D-0861-4017-8EA1-F62861A346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A4DD5E-F505-4EC7-B3F2-25AD13F727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37AD5-B495-40AE-80F2-F9902BD432F4}" type="datetimeFigureOut">
              <a:rPr lang="en-US" smtClean="0"/>
              <a:t>5/2/2021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EFED17-23E0-4737-9ADC-B095245B40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76DD73-2EC7-4C20-A36D-4B84D31BD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F35F2B-992B-46BB-9FC5-4731DF65AD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29784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D00289-66A7-457C-BCEF-0444CD61BE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9A4E82-0ACE-4385-BE35-DF07D186D1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FF6389-84DD-49B1-97F3-FBAD95AF27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6FC7BD-A32B-493E-9D5E-D98741F511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0D86A4B-D7C7-4AAE-97B0-9DE3710E39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BB60970-E520-4339-9B23-5F3038FDAC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37AD5-B495-40AE-80F2-F9902BD432F4}" type="datetimeFigureOut">
              <a:rPr lang="en-US" smtClean="0"/>
              <a:t>5/2/2021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9E43F6-9C19-4DA1-8EC7-04780AC8E2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EAF1000-7311-4517-9B6D-9DA15D4F91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F35F2B-992B-46BB-9FC5-4731DF65AD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03923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76CED9-BB2B-49DA-BC48-2C0191BFD1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1B180C-7B93-4175-A503-7E0E5B7B99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37AD5-B495-40AE-80F2-F9902BD432F4}" type="datetimeFigureOut">
              <a:rPr lang="en-US" smtClean="0"/>
              <a:t>5/2/2021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5F9D02-E04C-4B8F-A798-2B49042A3F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FFDAD1-EEF2-4F57-B22C-93C97D8B3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F35F2B-992B-46BB-9FC5-4731DF65AD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92790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5220B01-ACCF-4921-92F0-E074E4254A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37AD5-B495-40AE-80F2-F9902BD432F4}" type="datetimeFigureOut">
              <a:rPr lang="en-US" smtClean="0"/>
              <a:t>5/2/2021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B3F5A7B-8E11-4ED2-8598-755C42171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217ECD-EB68-4376-B9FA-EE1A6AF49C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F35F2B-992B-46BB-9FC5-4731DF65AD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62669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754ED1-9E41-437D-8539-A8C5E13C50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8DC850-3418-4E28-A84A-4DA1EACA1A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54B58F-B853-40CF-AAF2-8E1F405A22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E3A0E2-2C81-4394-8058-A8F490D79C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37AD5-B495-40AE-80F2-F9902BD432F4}" type="datetimeFigureOut">
              <a:rPr lang="en-US" smtClean="0"/>
              <a:t>5/2/2021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7702B1-6A35-4F1D-B996-E97E91B22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5B811D-A943-40EE-9B59-525F34FD3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F35F2B-992B-46BB-9FC5-4731DF65AD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40954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613D5E-0406-48DC-9FB7-38EE6CCE41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1873097-314A-434B-8E5E-82E590CB4E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04F254-9908-4D41-8F52-C098B4FC80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233EE2-2983-40DF-B4D1-B67A48691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37AD5-B495-40AE-80F2-F9902BD432F4}" type="datetimeFigureOut">
              <a:rPr lang="en-US" smtClean="0"/>
              <a:t>5/2/2021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93687B-36B0-4F19-827F-CD3EF5FE55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2E9AAD-4C6D-4702-B481-0463DE598F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F35F2B-992B-46BB-9FC5-4731DF65AD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03775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6524FC-1670-4242-851F-691C899D09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860F05-E224-4DEB-AB39-CC4E32BF1B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DDA4F8-D5CE-4DA0-BF58-4DA29BB2A6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37AD5-B495-40AE-80F2-F9902BD432F4}" type="datetimeFigureOut">
              <a:rPr lang="en-US" smtClean="0"/>
              <a:t>5/2/2021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C10387-78A5-4988-988C-B7B6BC8DF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0F6837-4B7E-4CDC-9FA5-254EEB3E8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F35F2B-992B-46BB-9FC5-4731DF65AD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742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CC01F45-5FD5-4D44-8683-7EC07C6E436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AA92E8-75BE-49BA-9EDA-5D05A811E8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73F923-93A8-41E2-8822-47763652F9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37AD5-B495-40AE-80F2-F9902BD432F4}" type="datetimeFigureOut">
              <a:rPr lang="en-US" smtClean="0"/>
              <a:t>5/2/2021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84EECB-3D2B-408B-91A4-DBED5974D3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0A083C-5351-4E41-9320-DD2B1F014B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F35F2B-992B-46BB-9FC5-4731DF65AD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1494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1DAF8B2-5756-4E7B-8A49-05CEA3F265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289C3F-0A99-49EC-A6B0-AEB199DD0F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121FFD-39E5-43E3-A815-81CFD28070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837AD5-B495-40AE-80F2-F9902BD432F4}" type="datetimeFigureOut">
              <a:rPr lang="en-US" smtClean="0"/>
              <a:t>5/2/2021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983593-4BCF-4B2A-B1F7-5F3C3A4873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D2FAC7-097A-4D74-AEB6-04C9D9DC1E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F35F2B-992B-46BB-9FC5-4731DF65AD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62357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3962611-DFD5-4092-AAFD-559E3DFCE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5488" y="0"/>
            <a:ext cx="10910292" cy="6858000"/>
          </a:xfrm>
          <a:prstGeom prst="rect">
            <a:avLst/>
          </a:prstGeom>
          <a:gradFill>
            <a:gsLst>
              <a:gs pos="0">
                <a:schemeClr val="accent1">
                  <a:lumMod val="90000"/>
                </a:schemeClr>
              </a:gs>
              <a:gs pos="25000">
                <a:schemeClr val="accent1">
                  <a:lumMod val="90000"/>
                </a:schemeClr>
              </a:gs>
              <a:gs pos="94000">
                <a:schemeClr val="bg2">
                  <a:lumMod val="25000"/>
                </a:schemeClr>
              </a:gs>
              <a:gs pos="100000">
                <a:schemeClr val="bg2">
                  <a:lumMod val="2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270F1FA-0425-408F-9861-80BF5AFB2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D9511C6-2762-418F-85FB-06035312EF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5368" y="2043663"/>
            <a:ext cx="6105194" cy="2031055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Boba in Santa Clara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40DA57-CD6D-4BB0-85EA-5871C2082B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45368" y="4074718"/>
            <a:ext cx="6105194" cy="682079"/>
          </a:xfrm>
        </p:spPr>
        <p:txBody>
          <a:bodyPr>
            <a:normAutofit/>
          </a:bodyPr>
          <a:lstStyle/>
          <a:p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03657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8BB4E-CDF4-402F-902E-6BCBF9F95C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Santa Clara</a:t>
            </a:r>
          </a:p>
        </p:txBody>
      </p:sp>
      <p:pic>
        <p:nvPicPr>
          <p:cNvPr id="5" name="Content Placeholder 4" descr="Map&#10;&#10;Description automatically generated">
            <a:extLst>
              <a:ext uri="{FF2B5EF4-FFF2-40B4-BE49-F238E27FC236}">
                <a16:creationId xmlns:a16="http://schemas.microsoft.com/office/drawing/2014/main" id="{76BEB52D-8324-4B9E-820E-7380B506334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066938"/>
            <a:ext cx="4553585" cy="3372321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D8E307B-B8AB-415F-97D1-3F09F54DE816}"/>
              </a:ext>
            </a:extLst>
          </p:cNvPr>
          <p:cNvSpPr txBox="1"/>
          <p:nvPr/>
        </p:nvSpPr>
        <p:spPr>
          <a:xfrm>
            <a:off x="6096000" y="3173238"/>
            <a:ext cx="299139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Population 2019:  1.9 million</a:t>
            </a:r>
          </a:p>
        </p:txBody>
      </p:sp>
    </p:spTree>
    <p:extLst>
      <p:ext uri="{BB962C8B-B14F-4D97-AF65-F5344CB8AC3E}">
        <p14:creationId xmlns:p14="http://schemas.microsoft.com/office/powerpoint/2010/main" val="18955721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ectangle 70">
            <a:extLst>
              <a:ext uri="{FF2B5EF4-FFF2-40B4-BE49-F238E27FC236}">
                <a16:creationId xmlns:a16="http://schemas.microsoft.com/office/drawing/2014/main" id="{0BC9EFE1-D8CB-4668-9980-DB108327A7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05" y="0"/>
            <a:ext cx="6271569" cy="6858000"/>
          </a:xfrm>
          <a:prstGeom prst="rect">
            <a:avLst/>
          </a:prstGeom>
          <a:gradFill>
            <a:gsLst>
              <a:gs pos="0">
                <a:schemeClr val="accent1">
                  <a:lumMod val="100000"/>
                  <a:alpha val="82000"/>
                </a:schemeClr>
              </a:gs>
              <a:gs pos="25000">
                <a:schemeClr val="accent1">
                  <a:alpha val="60000"/>
                </a:schemeClr>
              </a:gs>
              <a:gs pos="94000">
                <a:schemeClr val="bg2">
                  <a:lumMod val="75000"/>
                </a:schemeClr>
              </a:gs>
              <a:gs pos="100000">
                <a:schemeClr val="bg2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3" name="Picture 72">
            <a:extLst>
              <a:ext uri="{FF2B5EF4-FFF2-40B4-BE49-F238E27FC236}">
                <a16:creationId xmlns:a16="http://schemas.microsoft.com/office/drawing/2014/main" id="{7CBAE1BD-B8E4-4029-8AA2-C77E4FED98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574472E-AD64-4218-B0C7-37DFD44557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5882" y="4267832"/>
            <a:ext cx="4805996" cy="1793334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r>
              <a:rPr lang="en-US" dirty="0">
                <a:solidFill>
                  <a:srgbClr val="000000"/>
                </a:solidFill>
              </a:rPr>
              <a:t>There are currently many boba shops in Santa Clara</a:t>
            </a:r>
          </a:p>
        </p:txBody>
      </p:sp>
      <p:sp>
        <p:nvSpPr>
          <p:cNvPr id="75" name="Freeform 49">
            <a:extLst>
              <a:ext uri="{FF2B5EF4-FFF2-40B4-BE49-F238E27FC236}">
                <a16:creationId xmlns:a16="http://schemas.microsoft.com/office/drawing/2014/main" id="{77DA6D33-2D62-458C-BF5D-DBF612FD55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590635"/>
            <a:ext cx="5478085" cy="6276841"/>
          </a:xfrm>
          <a:custGeom>
            <a:avLst/>
            <a:gdLst>
              <a:gd name="connsiteX0" fmla="*/ 2178155 w 5478085"/>
              <a:gd name="connsiteY0" fmla="*/ 0 h 6276841"/>
              <a:gd name="connsiteX1" fmla="*/ 5478085 w 5478085"/>
              <a:gd name="connsiteY1" fmla="*/ 3299930 h 6276841"/>
              <a:gd name="connsiteX2" fmla="*/ 3751098 w 5478085"/>
              <a:gd name="connsiteY2" fmla="*/ 6201577 h 6276841"/>
              <a:gd name="connsiteX3" fmla="*/ 3594858 w 5478085"/>
              <a:gd name="connsiteY3" fmla="*/ 6276841 h 6276841"/>
              <a:gd name="connsiteX4" fmla="*/ 761453 w 5478085"/>
              <a:gd name="connsiteY4" fmla="*/ 6276841 h 6276841"/>
              <a:gd name="connsiteX5" fmla="*/ 605213 w 5478085"/>
              <a:gd name="connsiteY5" fmla="*/ 6201577 h 6276841"/>
              <a:gd name="connsiteX6" fmla="*/ 79093 w 5478085"/>
              <a:gd name="connsiteY6" fmla="*/ 5846317 h 6276841"/>
              <a:gd name="connsiteX7" fmla="*/ 0 w 5478085"/>
              <a:gd name="connsiteY7" fmla="*/ 5774432 h 6276841"/>
              <a:gd name="connsiteX8" fmla="*/ 0 w 5478085"/>
              <a:gd name="connsiteY8" fmla="*/ 825429 h 6276841"/>
              <a:gd name="connsiteX9" fmla="*/ 79093 w 5478085"/>
              <a:gd name="connsiteY9" fmla="*/ 753544 h 6276841"/>
              <a:gd name="connsiteX10" fmla="*/ 2178155 w 5478085"/>
              <a:gd name="connsiteY10" fmla="*/ 0 h 62768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478085" h="6276841">
                <a:moveTo>
                  <a:pt x="2178155" y="0"/>
                </a:moveTo>
                <a:cubicBezTo>
                  <a:pt x="4000656" y="0"/>
                  <a:pt x="5478085" y="1477429"/>
                  <a:pt x="5478085" y="3299930"/>
                </a:cubicBezTo>
                <a:cubicBezTo>
                  <a:pt x="5478085" y="4552900"/>
                  <a:pt x="4779769" y="5642769"/>
                  <a:pt x="3751098" y="6201577"/>
                </a:cubicBezTo>
                <a:lnTo>
                  <a:pt x="3594858" y="6276841"/>
                </a:lnTo>
                <a:lnTo>
                  <a:pt x="761453" y="6276841"/>
                </a:lnTo>
                <a:lnTo>
                  <a:pt x="605213" y="6201577"/>
                </a:lnTo>
                <a:cubicBezTo>
                  <a:pt x="418182" y="6099975"/>
                  <a:pt x="242071" y="5980818"/>
                  <a:pt x="79093" y="5846317"/>
                </a:cubicBezTo>
                <a:lnTo>
                  <a:pt x="0" y="5774432"/>
                </a:lnTo>
                <a:lnTo>
                  <a:pt x="0" y="825429"/>
                </a:lnTo>
                <a:lnTo>
                  <a:pt x="79093" y="753544"/>
                </a:lnTo>
                <a:cubicBezTo>
                  <a:pt x="649516" y="282789"/>
                  <a:pt x="1380811" y="0"/>
                  <a:pt x="2178155" y="0"/>
                </a:cubicBezTo>
                <a:close/>
              </a:path>
            </a:pathLst>
          </a:custGeom>
          <a:solidFill>
            <a:srgbClr val="FFFFFF"/>
          </a:solidFill>
          <a:ln>
            <a:gradFill>
              <a:gsLst>
                <a:gs pos="0">
                  <a:schemeClr val="accent1">
                    <a:lumMod val="40000"/>
                    <a:lumOff val="60000"/>
                  </a:schemeClr>
                </a:gs>
                <a:gs pos="23000">
                  <a:schemeClr val="accent1">
                    <a:lumMod val="45000"/>
                    <a:lumOff val="55000"/>
                  </a:schemeClr>
                </a:gs>
                <a:gs pos="83000">
                  <a:schemeClr val="accent3"/>
                </a:gs>
                <a:gs pos="100000">
                  <a:schemeClr val="accent3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026" name="Picture 2" descr="How To Make Bubble (Boba) Tea | Weelicious">
            <a:extLst>
              <a:ext uri="{FF2B5EF4-FFF2-40B4-BE49-F238E27FC236}">
                <a16:creationId xmlns:a16="http://schemas.microsoft.com/office/drawing/2014/main" id="{CB4AB134-E905-4748-BA35-8F4180221B0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49" r="1" b="1"/>
          <a:stretch/>
        </p:blipFill>
        <p:spPr bwMode="auto">
          <a:xfrm>
            <a:off x="1" y="770037"/>
            <a:ext cx="5298683" cy="6097438"/>
          </a:xfrm>
          <a:custGeom>
            <a:avLst/>
            <a:gdLst/>
            <a:ahLst/>
            <a:cxnLst/>
            <a:rect l="l" t="t" r="r" b="b"/>
            <a:pathLst>
              <a:path w="5298683" h="6097438">
                <a:moveTo>
                  <a:pt x="2178155" y="0"/>
                </a:moveTo>
                <a:cubicBezTo>
                  <a:pt x="3901575" y="0"/>
                  <a:pt x="5298683" y="1397108"/>
                  <a:pt x="5298683" y="3120527"/>
                </a:cubicBezTo>
                <a:cubicBezTo>
                  <a:pt x="5298683" y="4413092"/>
                  <a:pt x="4512810" y="5522106"/>
                  <a:pt x="3392805" y="5995828"/>
                </a:cubicBezTo>
                <a:lnTo>
                  <a:pt x="3115184" y="6097438"/>
                </a:lnTo>
                <a:lnTo>
                  <a:pt x="1241127" y="6097438"/>
                </a:lnTo>
                <a:lnTo>
                  <a:pt x="963506" y="5995828"/>
                </a:lnTo>
                <a:cubicBezTo>
                  <a:pt x="683504" y="5877397"/>
                  <a:pt x="424387" y="5719261"/>
                  <a:pt x="193210" y="5528477"/>
                </a:cubicBezTo>
                <a:lnTo>
                  <a:pt x="0" y="5352876"/>
                </a:lnTo>
                <a:lnTo>
                  <a:pt x="0" y="888178"/>
                </a:lnTo>
                <a:lnTo>
                  <a:pt x="193210" y="712577"/>
                </a:lnTo>
                <a:cubicBezTo>
                  <a:pt x="732621" y="267415"/>
                  <a:pt x="1424159" y="0"/>
                  <a:pt x="2178155" y="0"/>
                </a:cubicBezTo>
                <a:close/>
              </a:path>
            </a:pathLst>
          </a:custGeom>
          <a:noFill/>
          <a:effectLst>
            <a:softEdge rad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12623805-4C2C-48CF-B7FE-00A725237178}"/>
              </a:ext>
            </a:extLst>
          </p:cNvPr>
          <p:cNvSpPr txBox="1">
            <a:spLocks/>
          </p:cNvSpPr>
          <p:nvPr/>
        </p:nvSpPr>
        <p:spPr>
          <a:xfrm>
            <a:off x="6432045" y="1285146"/>
            <a:ext cx="4805996" cy="140144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>
                <a:solidFill>
                  <a:srgbClr val="000000"/>
                </a:solidFill>
              </a:rPr>
              <a:t>Why?</a:t>
            </a:r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60405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3326AA-E124-4D3D-BAD7-49532CBE30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cleaning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194593-E3E6-4F65-9D65-FC617AD414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Gather census data from 2010</a:t>
            </a:r>
          </a:p>
          <a:p>
            <a:r>
              <a:rPr lang="en-US" dirty="0"/>
              <a:t>Gather venue data from Foursquare API</a:t>
            </a:r>
          </a:p>
          <a:p>
            <a:pPr lvl="1"/>
            <a:r>
              <a:rPr lang="en-US" dirty="0"/>
              <a:t>All venues in Santa Clara</a:t>
            </a:r>
          </a:p>
          <a:p>
            <a:pPr lvl="1"/>
            <a:r>
              <a:rPr lang="en-US" dirty="0"/>
              <a:t>Boba shops in Santa Clara</a:t>
            </a:r>
          </a:p>
          <a:p>
            <a:endParaRPr lang="en-US" dirty="0"/>
          </a:p>
          <a:p>
            <a:r>
              <a:rPr lang="en-US" dirty="0"/>
              <a:t>Determine population density</a:t>
            </a:r>
          </a:p>
          <a:p>
            <a:r>
              <a:rPr lang="en-US" dirty="0"/>
              <a:t>Determine the most popular boba shops</a:t>
            </a:r>
          </a:p>
        </p:txBody>
      </p:sp>
    </p:spTree>
    <p:extLst>
      <p:ext uri="{BB962C8B-B14F-4D97-AF65-F5344CB8AC3E}">
        <p14:creationId xmlns:p14="http://schemas.microsoft.com/office/powerpoint/2010/main" val="18807226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B45FCF-CF90-4D6C-BA3C-5866BF59DF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Population density</a:t>
            </a:r>
          </a:p>
        </p:txBody>
      </p:sp>
      <p:pic>
        <p:nvPicPr>
          <p:cNvPr id="5" name="Content Placeholder 4" descr="Map&#10;&#10;Description automatically generated">
            <a:extLst>
              <a:ext uri="{FF2B5EF4-FFF2-40B4-BE49-F238E27FC236}">
                <a16:creationId xmlns:a16="http://schemas.microsoft.com/office/drawing/2014/main" id="{5E06B670-65F0-4F60-9AA5-7EE2A1FA504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7316" y="707080"/>
            <a:ext cx="6780700" cy="5441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53123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5D006C-6F4D-4FF3-B939-71BF0297E4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64614" y="1783959"/>
            <a:ext cx="4087306" cy="288911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200" dirty="0"/>
              <a:t>High population density and near other attractive venues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E49CC64F-7275-4E33-961B-0C5CDC4398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1" y="0"/>
            <a:ext cx="7188051" cy="6858000"/>
          </a:xfrm>
          <a:custGeom>
            <a:avLst/>
            <a:gdLst>
              <a:gd name="connsiteX0" fmla="*/ 7188051 w 7188051"/>
              <a:gd name="connsiteY0" fmla="*/ 6858000 h 6858000"/>
              <a:gd name="connsiteX1" fmla="*/ 108694 w 7188051"/>
              <a:gd name="connsiteY1" fmla="*/ 6858000 h 6858000"/>
              <a:gd name="connsiteX2" fmla="*/ 79127 w 7188051"/>
              <a:gd name="connsiteY2" fmla="*/ 6681235 h 6858000"/>
              <a:gd name="connsiteX3" fmla="*/ 0 w 7188051"/>
              <a:gd name="connsiteY3" fmla="*/ 5565888 h 6858000"/>
              <a:gd name="connsiteX4" fmla="*/ 2190696 w 7188051"/>
              <a:gd name="connsiteY4" fmla="*/ 145339 h 6858000"/>
              <a:gd name="connsiteX5" fmla="*/ 2339431 w 7188051"/>
              <a:gd name="connsiteY5" fmla="*/ 0 h 6858000"/>
              <a:gd name="connsiteX6" fmla="*/ 7188051 w 7188051"/>
              <a:gd name="connsiteY6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188051" h="6858000">
                <a:moveTo>
                  <a:pt x="7188051" y="6858000"/>
                </a:moveTo>
                <a:lnTo>
                  <a:pt x="108694" y="6858000"/>
                </a:lnTo>
                <a:lnTo>
                  <a:pt x="79127" y="6681235"/>
                </a:lnTo>
                <a:cubicBezTo>
                  <a:pt x="26981" y="6316967"/>
                  <a:pt x="0" y="5944579"/>
                  <a:pt x="0" y="5565888"/>
                </a:cubicBezTo>
                <a:cubicBezTo>
                  <a:pt x="0" y="3459953"/>
                  <a:pt x="834428" y="1548908"/>
                  <a:pt x="2190696" y="145339"/>
                </a:cubicBezTo>
                <a:lnTo>
                  <a:pt x="2339431" y="0"/>
                </a:lnTo>
                <a:lnTo>
                  <a:pt x="7188051" y="0"/>
                </a:ln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Content Placeholder 4" descr="Map&#10;&#10;Description automatically generated">
            <a:extLst>
              <a:ext uri="{FF2B5EF4-FFF2-40B4-BE49-F238E27FC236}">
                <a16:creationId xmlns:a16="http://schemas.microsoft.com/office/drawing/2014/main" id="{13A0CF9A-BF88-43C5-9EC5-CEECEDE50F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19" r="12363" b="2"/>
          <a:stretch/>
        </p:blipFill>
        <p:spPr>
          <a:xfrm>
            <a:off x="1" y="10"/>
            <a:ext cx="7028495" cy="6857990"/>
          </a:xfrm>
          <a:custGeom>
            <a:avLst/>
            <a:gdLst/>
            <a:ahLst/>
            <a:cxnLst/>
            <a:rect l="l" t="t" r="r" b="b"/>
            <a:pathLst>
              <a:path w="7028495" h="6858000">
                <a:moveTo>
                  <a:pt x="0" y="0"/>
                </a:moveTo>
                <a:lnTo>
                  <a:pt x="6915668" y="0"/>
                </a:lnTo>
                <a:lnTo>
                  <a:pt x="6952411" y="219663"/>
                </a:lnTo>
                <a:cubicBezTo>
                  <a:pt x="7002551" y="569921"/>
                  <a:pt x="7028495" y="927986"/>
                  <a:pt x="7028495" y="1292112"/>
                </a:cubicBezTo>
                <a:cubicBezTo>
                  <a:pt x="7028495" y="3343346"/>
                  <a:pt x="6205186" y="5202289"/>
                  <a:pt x="4870994" y="6556512"/>
                </a:cubicBezTo>
                <a:lnTo>
                  <a:pt x="4556185" y="6858000"/>
                </a:lnTo>
                <a:lnTo>
                  <a:pt x="0" y="685800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11026178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Down Arrow 7">
            <a:extLst>
              <a:ext uri="{FF2B5EF4-FFF2-40B4-BE49-F238E27FC236}">
                <a16:creationId xmlns:a16="http://schemas.microsoft.com/office/drawing/2014/main" id="{73DE2CFE-42F2-48F0-8706-5264E012B1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288521" y="381403"/>
            <a:ext cx="2200313" cy="3342508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794ABE2-9208-4E2D-A27F-415382AE42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6952" y="1204108"/>
            <a:ext cx="2669406" cy="1781175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rgbClr val="FFFFFF"/>
                </a:solidFill>
              </a:rPr>
              <a:t>All data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3F522655-34A6-431E-B804-37C529C8E3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6951" y="3355130"/>
            <a:ext cx="2669407" cy="2427333"/>
          </a:xfrm>
        </p:spPr>
        <p:txBody>
          <a:bodyPr>
            <a:normAutofit/>
          </a:bodyPr>
          <a:lstStyle/>
          <a:p>
            <a:r>
              <a:rPr lang="en-US" sz="1600" dirty="0"/>
              <a:t>Red- high population density</a:t>
            </a:r>
          </a:p>
          <a:p>
            <a:r>
              <a:rPr lang="en-US" sz="1600" dirty="0"/>
              <a:t>Purple- high density and near other attractive venues</a:t>
            </a:r>
          </a:p>
          <a:p>
            <a:r>
              <a:rPr lang="en-US" sz="1600" dirty="0"/>
              <a:t>Blue- potential places to open a boba shop</a:t>
            </a:r>
          </a:p>
        </p:txBody>
      </p:sp>
      <p:pic>
        <p:nvPicPr>
          <p:cNvPr id="5" name="Content Placeholder 4" descr="Map&#10;&#10;Description automatically generated">
            <a:extLst>
              <a:ext uri="{FF2B5EF4-FFF2-40B4-BE49-F238E27FC236}">
                <a16:creationId xmlns:a16="http://schemas.microsoft.com/office/drawing/2014/main" id="{4E8E7BCB-AF4A-4F22-838F-90B48BD942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2102" y="977068"/>
            <a:ext cx="6903723" cy="4780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66161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F56F5174-31D9-4DBB-AAB7-A1FD7BDB13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5614875" cy="6858000"/>
          </a:xfrm>
          <a:prstGeom prst="rect">
            <a:avLst/>
          </a:prstGeom>
          <a:gradFill>
            <a:gsLst>
              <a:gs pos="0">
                <a:schemeClr val="accent1">
                  <a:lumMod val="100000"/>
                  <a:alpha val="82000"/>
                </a:schemeClr>
              </a:gs>
              <a:gs pos="25000">
                <a:schemeClr val="accent1">
                  <a:alpha val="60000"/>
                </a:schemeClr>
              </a:gs>
              <a:gs pos="94000">
                <a:schemeClr val="bg2">
                  <a:lumMod val="75000"/>
                </a:schemeClr>
              </a:gs>
              <a:gs pos="100000">
                <a:schemeClr val="bg2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E113210-7872-481A-ADE6-3A05CCAF5E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5961829-2D0B-4527-B31A-F4347A6446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105" y="802955"/>
            <a:ext cx="4977976" cy="1454051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000000"/>
                </a:solidFill>
              </a:rPr>
              <a:t>Conclusions:</a:t>
            </a:r>
            <a:br>
              <a:rPr lang="en-US" dirty="0">
                <a:solidFill>
                  <a:srgbClr val="000000"/>
                </a:solidFill>
              </a:rPr>
            </a:br>
            <a:r>
              <a:rPr lang="en-US" dirty="0">
                <a:solidFill>
                  <a:srgbClr val="000000"/>
                </a:solidFill>
              </a:rPr>
              <a:t>Open up shop</a:t>
            </a:r>
          </a:p>
        </p:txBody>
      </p:sp>
      <p:sp>
        <p:nvSpPr>
          <p:cNvPr id="16" name="Freeform 62">
            <a:extLst>
              <a:ext uri="{FF2B5EF4-FFF2-40B4-BE49-F238E27FC236}">
                <a16:creationId xmlns:a16="http://schemas.microsoft.com/office/drawing/2014/main" id="{F9A95BEE-6BB1-4A28-A8E6-A34B2E42EF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38619"/>
            <a:ext cx="5000438" cy="5400962"/>
          </a:xfrm>
          <a:custGeom>
            <a:avLst/>
            <a:gdLst>
              <a:gd name="connsiteX0" fmla="*/ 2299956 w 5000438"/>
              <a:gd name="connsiteY0" fmla="*/ 0 h 5400962"/>
              <a:gd name="connsiteX1" fmla="*/ 5000438 w 5000438"/>
              <a:gd name="connsiteY1" fmla="*/ 2700481 h 5400962"/>
              <a:gd name="connsiteX2" fmla="*/ 2299956 w 5000438"/>
              <a:gd name="connsiteY2" fmla="*/ 5400962 h 5400962"/>
              <a:gd name="connsiteX3" fmla="*/ 60675 w 5000438"/>
              <a:gd name="connsiteY3" fmla="*/ 4210346 h 5400962"/>
              <a:gd name="connsiteX4" fmla="*/ 0 w 5000438"/>
              <a:gd name="connsiteY4" fmla="*/ 4110472 h 5400962"/>
              <a:gd name="connsiteX5" fmla="*/ 0 w 5000438"/>
              <a:gd name="connsiteY5" fmla="*/ 1290491 h 5400962"/>
              <a:gd name="connsiteX6" fmla="*/ 60675 w 5000438"/>
              <a:gd name="connsiteY6" fmla="*/ 1190617 h 5400962"/>
              <a:gd name="connsiteX7" fmla="*/ 2299956 w 5000438"/>
              <a:gd name="connsiteY7" fmla="*/ 0 h 540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000438" h="5400962">
                <a:moveTo>
                  <a:pt x="2299956" y="0"/>
                </a:moveTo>
                <a:cubicBezTo>
                  <a:pt x="3791390" y="0"/>
                  <a:pt x="5000438" y="1209047"/>
                  <a:pt x="5000438" y="2700481"/>
                </a:cubicBezTo>
                <a:cubicBezTo>
                  <a:pt x="5000438" y="4191915"/>
                  <a:pt x="3791390" y="5400962"/>
                  <a:pt x="2299956" y="5400962"/>
                </a:cubicBezTo>
                <a:cubicBezTo>
                  <a:pt x="1367810" y="5400962"/>
                  <a:pt x="545971" y="4928678"/>
                  <a:pt x="60675" y="4210346"/>
                </a:cubicBezTo>
                <a:lnTo>
                  <a:pt x="0" y="4110472"/>
                </a:lnTo>
                <a:lnTo>
                  <a:pt x="0" y="1290491"/>
                </a:lnTo>
                <a:lnTo>
                  <a:pt x="60675" y="1190617"/>
                </a:lnTo>
                <a:cubicBezTo>
                  <a:pt x="545971" y="472284"/>
                  <a:pt x="1367810" y="0"/>
                  <a:pt x="2299956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Content Placeholder 4" descr="Map&#10;&#10;Description automatically generated">
            <a:extLst>
              <a:ext uri="{FF2B5EF4-FFF2-40B4-BE49-F238E27FC236}">
                <a16:creationId xmlns:a16="http://schemas.microsoft.com/office/drawing/2014/main" id="{3BE6F0D4-73B5-4067-8609-A0F94D11731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550" r="12094" b="3"/>
          <a:stretch/>
        </p:blipFill>
        <p:spPr>
          <a:xfrm>
            <a:off x="20" y="907231"/>
            <a:ext cx="4838021" cy="5063738"/>
          </a:xfrm>
          <a:custGeom>
            <a:avLst/>
            <a:gdLst/>
            <a:ahLst/>
            <a:cxnLst/>
            <a:rect l="l" t="t" r="r" b="b"/>
            <a:pathLst>
              <a:path w="4838041" h="5063738">
                <a:moveTo>
                  <a:pt x="2306172" y="0"/>
                </a:moveTo>
                <a:cubicBezTo>
                  <a:pt x="3704485" y="0"/>
                  <a:pt x="4838041" y="1133556"/>
                  <a:pt x="4838041" y="2531869"/>
                </a:cubicBezTo>
                <a:cubicBezTo>
                  <a:pt x="4838041" y="3930182"/>
                  <a:pt x="3704485" y="5063738"/>
                  <a:pt x="2306172" y="5063738"/>
                </a:cubicBezTo>
                <a:cubicBezTo>
                  <a:pt x="1344832" y="5063738"/>
                  <a:pt x="508631" y="4527956"/>
                  <a:pt x="79886" y="3738709"/>
                </a:cubicBezTo>
                <a:lnTo>
                  <a:pt x="0" y="3572876"/>
                </a:lnTo>
                <a:lnTo>
                  <a:pt x="0" y="1490863"/>
                </a:lnTo>
                <a:lnTo>
                  <a:pt x="79886" y="1325030"/>
                </a:lnTo>
                <a:cubicBezTo>
                  <a:pt x="508631" y="535783"/>
                  <a:pt x="1344832" y="0"/>
                  <a:pt x="2306172" y="0"/>
                </a:cubicBezTo>
                <a:close/>
              </a:path>
            </a:pathLst>
          </a:custGeom>
          <a:effectLst>
            <a:softEdge rad="0"/>
          </a:effectLst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56CEEB1-9519-48E2-B363-16A59C3925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0574" y="2421682"/>
            <a:ext cx="4977578" cy="3639289"/>
          </a:xfrm>
        </p:spPr>
        <p:txBody>
          <a:bodyPr anchor="ctr">
            <a:normAutofit/>
          </a:bodyPr>
          <a:lstStyle/>
          <a:p>
            <a:r>
              <a:rPr lang="en-US" sz="2000" dirty="0">
                <a:solidFill>
                  <a:srgbClr val="000000"/>
                </a:solidFill>
              </a:rPr>
              <a:t>I chose to focus on the potential places to open a boba shop that are farther away from existing boba shops</a:t>
            </a:r>
          </a:p>
          <a:p>
            <a:r>
              <a:rPr lang="en-US" sz="2000" dirty="0">
                <a:solidFill>
                  <a:srgbClr val="000000"/>
                </a:solidFill>
              </a:rPr>
              <a:t>Marked with a blue pinpoint </a:t>
            </a:r>
          </a:p>
        </p:txBody>
      </p:sp>
    </p:spTree>
    <p:extLst>
      <p:ext uri="{BB962C8B-B14F-4D97-AF65-F5344CB8AC3E}">
        <p14:creationId xmlns:p14="http://schemas.microsoft.com/office/powerpoint/2010/main" val="29142023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351DFE5-F63D-4BE0-BDA9-E3EB88F01A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5601" y="0"/>
            <a:ext cx="11480494" cy="2753936"/>
          </a:xfrm>
          <a:prstGeom prst="rect">
            <a:avLst/>
          </a:prstGeom>
          <a:gradFill>
            <a:gsLst>
              <a:gs pos="0">
                <a:schemeClr val="accent1">
                  <a:lumMod val="90000"/>
                </a:schemeClr>
              </a:gs>
              <a:gs pos="25000">
                <a:schemeClr val="accent1">
                  <a:lumMod val="90000"/>
                </a:schemeClr>
              </a:gs>
              <a:gs pos="94000">
                <a:schemeClr val="bg2">
                  <a:lumMod val="25000"/>
                </a:schemeClr>
              </a:gs>
              <a:gs pos="100000">
                <a:schemeClr val="bg2">
                  <a:lumMod val="2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AA16612-ACD2-4A16-8F2B-4514FD6BF2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DFF5806-4ED8-4595-BDFC-74B3D19971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226" y="826680"/>
            <a:ext cx="9833548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rgbClr val="FFFFFF"/>
                </a:solidFill>
              </a:rPr>
              <a:t>Future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96B0A8-6AF9-4765-AEA9-9F377E6B98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9226" y="3092970"/>
            <a:ext cx="9833548" cy="2693976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rgbClr val="000000"/>
                </a:solidFill>
              </a:rPr>
              <a:t>Use the future shop locations and determine relation to freeways, parking accessibility and </a:t>
            </a:r>
            <a:r>
              <a:rPr lang="en-US" sz="2000">
                <a:solidFill>
                  <a:srgbClr val="000000"/>
                </a:solidFill>
              </a:rPr>
              <a:t>handicap accessibility. </a:t>
            </a:r>
          </a:p>
        </p:txBody>
      </p:sp>
    </p:spTree>
    <p:extLst>
      <p:ext uri="{BB962C8B-B14F-4D97-AF65-F5344CB8AC3E}">
        <p14:creationId xmlns:p14="http://schemas.microsoft.com/office/powerpoint/2010/main" val="16830630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137</Words>
  <Application>Microsoft Office PowerPoint</Application>
  <PresentationFormat>Widescreen</PresentationFormat>
  <Paragraphs>24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Boba in Santa Clara</vt:lpstr>
      <vt:lpstr>Santa Clara</vt:lpstr>
      <vt:lpstr>There are currently many boba shops in Santa Clara</vt:lpstr>
      <vt:lpstr>Data cleaning </vt:lpstr>
      <vt:lpstr>Population density</vt:lpstr>
      <vt:lpstr>High population density and near other attractive venues</vt:lpstr>
      <vt:lpstr>All data</vt:lpstr>
      <vt:lpstr>Conclusions: Open up shop</vt:lpstr>
      <vt:lpstr>Future work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Boba in Santa Clara</dc:title>
  <dc:creator>Nicole Chan</dc:creator>
  <cp:lastModifiedBy>Nicole Chan</cp:lastModifiedBy>
  <cp:revision>2</cp:revision>
  <dcterms:created xsi:type="dcterms:W3CDTF">2021-05-03T06:37:13Z</dcterms:created>
  <dcterms:modified xsi:type="dcterms:W3CDTF">2021-05-03T06:48:08Z</dcterms:modified>
</cp:coreProperties>
</file>